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$5–8M  ·  MEXICO CITY  · 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E5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fintech company </a:t>
            </a:r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disguised</a:t>
            </a:r>
            <a:pPr indent="0" marL="0">
              <a:lnSpc>
                <a:spcPct val="95000"/>
              </a:lnSpc>
              <a:buNone/>
            </a:pP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E5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 restaurant </a:t>
            </a: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software.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give restaurants the best free POS on the market. They give us real-time transaction data. Six months later, we underwrite merchant cash advances with better data than any bank in Latin America.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526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to onboard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0" y="4526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cost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5488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mo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54880" y="4526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underwriting data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76656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766560" y="4526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Restaurants that need financing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juan@injupe.com  ·  www.desktop.kitchen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Kitchen  ·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THE THESIS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5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Whoever owns the </a:t>
            </a:r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payment flow</a:t>
            </a:r>
            <a:pPr indent="0" marL="0">
              <a:buNone/>
            </a:pPr>
            <a:r>
              <a:rPr lang="en-US" sz="3000" dirty="0">
                <a:solidFill>
                  <a:srgbClr val="E5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owns the restaurant.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 proved it in the US. Toast proved it in fine dining. Nobody has done it in Latin America's 680,000+ restaurants — a market where traditional banks won't lend, and delivery platforms take 30% while giving operators zero data.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2468880" cy="210312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560320"/>
            <a:ext cx="411480" cy="411480"/>
          </a:xfrm>
          <a:prstGeom prst="rect">
            <a:avLst>
              <a:gd name="adj" fmla="val 11111"/>
            </a:avLst>
          </a:prstGeom>
          <a:solidFill>
            <a:srgbClr val="0D9488">
              <a:alpha val="20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624328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won't lend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33832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Mexican restaurants can't get capital. Traditional banks require collateral, 18+ months of tax filings, and credit history most operators don't have.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14400" y="4160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$12B+ unmet credit demand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474720" y="2377440"/>
            <a:ext cx="2468880" cy="210312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0" y="2560320"/>
            <a:ext cx="411480" cy="411480"/>
          </a:xfrm>
          <a:prstGeom prst="rect">
            <a:avLst>
              <a:gd name="adj" fmla="val 11111"/>
            </a:avLst>
          </a:prstGeom>
          <a:solidFill>
            <a:srgbClr val="0D9488">
              <a:alpha val="20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2624328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5760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systems are blind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657600" y="33832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POS shows what you sold. None show what you actually kept after Rappi's 30%, Uber's 28%, and DiDi's 25%.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4160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 average margin misjudgment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6217920" y="2377440"/>
            <a:ext cx="2468880" cy="210312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00800" y="2560320"/>
            <a:ext cx="411480" cy="411480"/>
          </a:xfrm>
          <a:prstGeom prst="rect">
            <a:avLst>
              <a:gd name="adj" fmla="val 11111"/>
            </a:avLst>
          </a:prstGeom>
          <a:solidFill>
            <a:srgbClr val="0D9488">
              <a:alpha val="20000"/>
            </a:srgbClr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2624328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0080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gap = opportunity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400800" y="33832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a restaurant's payments and you have real-time revenue data better than any bank. Underwrite an MCA in minutes, not weeks.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400800" y="4160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how Square Capital built $9B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Kitchen  ·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01b — PROBLEM &amp; SOLUTION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777240"/>
            <a:ext cx="3840480" cy="393192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960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325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5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Mexican restaurants are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flying blind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5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starved of capital.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5840" y="205740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19933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platforms take 25–30%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34440" y="221284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Rappi, Uber Eats, DiDi Food — but no POS shows the real margin after commissions, chargebacks, and fees.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05840" y="272491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26609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won't lend to them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34440" y="28803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banks need 18+ months of filings, collateral, and credit history. Most operators don't qualify. Those that do pay 40%+ rates.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05840" y="339242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33284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 into their own business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354787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cross-reference spreadsheets manually. Average restaurant misjudges profitability by 12%.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05840" y="4059936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39959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CFDI compliance is a nightmare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34440" y="421538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Mexico's SAT requires electronic invoicing for every transaction. Most POS systems bolt it on as an afterthought — or ignore it.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46320" y="777240"/>
            <a:ext cx="3749040" cy="393192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0" y="960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1325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Desktop Kitchen: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5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free POS that becomes a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fintech platform.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120640" y="2057400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5349240" y="19933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POS with real margin visibility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49240" y="221284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true P&amp;L after platform fees. Tracks every peso across Rappi, Uber Eats, DiDi Food. No more spreadsheets.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20640" y="2724912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8" name="Text 26"/>
          <p:cNvSpPr/>
          <p:nvPr/>
        </p:nvSpPr>
        <p:spPr>
          <a:xfrm>
            <a:off x="5349240" y="26609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data powers underwriting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49240" y="288036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order that flows through our system builds a real-time financial profile. After 4–6 months, we know their business better than any bank.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120640" y="3392424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5349240" y="332841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MCAs with automatic repayment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49240" y="354787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financing based on actual daily sales. Repayment auto-deducted as a % at the point of sale. Lower risk, better terms.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120640" y="4059936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4" name="Text 32"/>
          <p:cNvSpPr/>
          <p:nvPr/>
        </p:nvSpPr>
        <p:spPr>
          <a:xfrm>
            <a:off x="5349240" y="39959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CFDI, offline mode, AI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49240" y="421538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CFDI 4.0 built in from day one. Works offline. AI-powered upselling, dynamic pricing, prep forecasting. All the bells and whistles.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Kitchen  ·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THE TROJAN HORSE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5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POS is the bait.
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data is the business.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3840480" cy="2834640"/>
          </a:xfrm>
          <a:prstGeom prst="rect">
            <a:avLst/>
          </a:prstGeom>
          <a:solidFill>
            <a:srgbClr val="171717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87452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1874520"/>
            <a:ext cx="109728" cy="109728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10" name="Shape 8"/>
          <p:cNvSpPr/>
          <p:nvPr/>
        </p:nvSpPr>
        <p:spPr>
          <a:xfrm>
            <a:off x="1325880" y="1874520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1828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D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the-trojan-horse.yml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960120" y="214884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play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step_1: "Give away the best free POS in Mexico"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step_2: "Restaurant processes every txn through us"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step_3: "We see daily revenue, seasonality, trends"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step_4: "Month 5: offer MCA based on real data"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step_5: "Repayment auto-deducted from daily sales"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They never felt sold a financial product.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default_risk: fundamentally_lower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1737360"/>
            <a:ext cx="3749040" cy="283464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Trojan Horse Works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cost per restaurant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0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74920" y="2606040"/>
            <a:ext cx="3291840" cy="0"/>
          </a:xfrm>
          <a:prstGeom prst="line">
            <a:avLst/>
          </a:prstGeom>
          <a:noFill/>
          <a:ln w="381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(any Android tablet)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0" y="2651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~$65 USD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74920" y="2971800"/>
            <a:ext cx="3291840" cy="0"/>
          </a:xfrm>
          <a:prstGeom prst="line">
            <a:avLst/>
          </a:prstGeom>
          <a:noFill/>
          <a:ln w="381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Bells &amp; whistles (loyalty, AI, delivery)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0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hooks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74920" y="3337560"/>
            <a:ext cx="3291840" cy="0"/>
          </a:xfrm>
          <a:prstGeom prst="line">
            <a:avLst/>
          </a:prstGeom>
          <a:noFill/>
          <a:ln w="381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AI tier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0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$60/mo revenue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74920" y="3703320"/>
            <a:ext cx="3291840" cy="0"/>
          </a:xfrm>
          <a:prstGeom prst="line">
            <a:avLst/>
          </a:prstGeom>
          <a:noFill/>
          <a:ln w="381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underwriting-ready data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months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74920" y="4069080"/>
            <a:ext cx="3291840" cy="0"/>
          </a:xfrm>
          <a:prstGeom prst="line">
            <a:avLst/>
          </a:prstGeom>
          <a:noFill/>
          <a:ln w="381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MCA repayment method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0" y="4114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% of daily sales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Kitchen  ·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THE FLYWHEEL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5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revenue layers. </a:t>
            </a:r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Each one funds the next.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2468880" cy="292608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7373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2880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2377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— ADOPTION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91440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 POS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14400" y="2971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POS with loyalty, menu boards, delivery analytics, AI suggestions, kitchen displays, CFDI invoicing, offline mode. Free forever. The most irresistible offer in the Mexican market.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14400" y="4114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$0 per restaurant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474720" y="1554480"/>
            <a:ext cx="2468880" cy="292608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0" y="17373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82880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57600" y="2377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— SAAS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365760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$60/mo AI Tier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657600" y="2971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dynamic pricing, upsell suggestions, prep forecasting, waste detection, delivery margin optimization. Recurring revenue that subsidizes growth.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657600" y="4114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30% conversion to paid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6217920" y="1554480"/>
            <a:ext cx="2468880" cy="292608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00800" y="17373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2880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00800" y="2377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 — FINTECH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640080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Merchant Cash Advances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00800" y="2971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4–6 months of transaction data, we offer MCAs with automatic repayment deducted as a % of daily sales. Lower risk. Better terms than any bank.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400800" y="4114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where the real margin lives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Kitchen  ·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03b — THE PRECEDENT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5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playbook has </a:t>
            </a:r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created billions in value.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Company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Trojan Horse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Business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Lending Book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Square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Card reader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Square Capital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$9.4B cumulative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Toast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Restaurant POS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Toast Capital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$1.6B+ originated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Shopify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E-commerce platform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Shopify Capital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$5B+ cumulative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Desktop Kitchen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POS + 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MCA platform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Building the pipeline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13232" y="3456432"/>
            <a:ext cx="7717536" cy="566928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biggest fintech opportunities hide inside non-fintech products."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Kitchen  ·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THE PROOF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5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isn't a deck. </a:t>
            </a:r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It's running in production.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828800" cy="192024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691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system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377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at Juanberto's California Burritos, Roma Sur CDMX. Real orders, real payments, real CFDI invoices.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88920" y="1554480"/>
            <a:ext cx="1828800" cy="192024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26080" y="1691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60K+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92608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0" y="2377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with RLS, offline support, AI layer, Stripe billing, delivery reconciliation, native mobile.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46320" y="1554480"/>
            <a:ext cx="1828800" cy="192024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3480" y="1691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98348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stores in review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2377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Play (9 days to production) + Apple App Connect. Any $65 Android tablet = full POS with NFC tap-to-pay.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903720" y="1554480"/>
            <a:ext cx="1828800" cy="192024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0" y="1691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04088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routes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40880" y="2377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Orders, payments, inventory, AI, delivery, CFDI, loyalty, settlement, financing, banking. Complete platform.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749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Founder-Market Fit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3977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Juan's professional background is in finance — not tech. He ran a restaurant, couldn't figure out why profitable months felt cash-poor, and built the POS to solve it. The MCA play was the strategy from day one. A finance professional building the data pipeline he wished he had as a lender.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Kitchen  ·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THE MARKET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5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680K restaurants. </a:t>
            </a:r>
            <a:pPr indent="0" marL="0">
              <a:buNone/>
            </a:pPr>
            <a:r>
              <a:rPr lang="en-US" sz="28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$12B+ in unmet lending demand.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2468880" cy="118872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$4.2B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Delivery GMV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2024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474720" y="1554480"/>
            <a:ext cx="2468880" cy="118872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680K+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7472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2377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468880" cy="118872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180K+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1792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Delivery-enabled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2377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Rappi, Uber, DiDi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31520" y="3017520"/>
            <a:ext cx="2468880" cy="118872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154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$12B+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3152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Unmet Credit Demand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38404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Mexican food service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474720" y="3017520"/>
            <a:ext cx="2468880" cy="118872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3154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47472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Delivery Growth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0" y="38404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2022–2024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17920" y="3017520"/>
            <a:ext cx="2468880" cy="118872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154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3×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21792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Kitchen Growth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38404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CDMX 2021→2024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Kitchen  ·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DEFENSIBILITY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5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moat </a:t>
            </a:r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compounds daily.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828800" cy="237744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737360"/>
            <a:ext cx="411480" cy="411480"/>
          </a:xfrm>
          <a:prstGeom prst="rect">
            <a:avLst>
              <a:gd name="adj" fmla="val 11111"/>
            </a:avLst>
          </a:prstGeom>
          <a:solidFill>
            <a:srgbClr val="0D9488">
              <a:alpha val="20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0136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Moat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25146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CFDI 4.0 invoicing woven into every transaction. International players would need to rebuild their core flow for Mexico.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68680" y="3611880"/>
            <a:ext cx="1371600" cy="182880"/>
          </a:xfrm>
          <a:prstGeom prst="rect">
            <a:avLst/>
          </a:prstGeom>
          <a:noFill/>
          <a:ln w="63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now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2788920" y="1554480"/>
            <a:ext cx="1828800" cy="237744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971800" y="1737360"/>
            <a:ext cx="411480" cy="411480"/>
          </a:xfrm>
          <a:prstGeom prst="rect">
            <a:avLst>
              <a:gd name="adj" fmla="val 11111"/>
            </a:avLst>
          </a:prstGeom>
          <a:solidFill>
            <a:srgbClr val="0D9488">
              <a:alpha val="20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1801368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2608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Moat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926080" y="25146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Simultaneous reconciliation across Rappi, Uber Eats, and DiDi Food — the LATAM trifecta no US POS handles.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2926080" y="3611880"/>
            <a:ext cx="1371600" cy="182880"/>
          </a:xfrm>
          <a:prstGeom prst="rect">
            <a:avLst/>
          </a:prstGeom>
          <a:noFill/>
          <a:ln w="63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now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4846320" y="1554480"/>
            <a:ext cx="1828800" cy="237744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029200" y="1737360"/>
            <a:ext cx="411480" cy="411480"/>
          </a:xfrm>
          <a:prstGeom prst="rect">
            <a:avLst>
              <a:gd name="adj" fmla="val 11111"/>
            </a:avLst>
          </a:prstGeom>
          <a:solidFill>
            <a:srgbClr val="0D9488">
              <a:alpha val="20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208" y="1801368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98348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Network Moat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983480" y="25146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restaurant generates daily transaction data that trains underwriting models. 5,000 restaurants makes the dataset unreachable.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4983480" y="3611880"/>
            <a:ext cx="1371600" cy="182880"/>
          </a:xfrm>
          <a:prstGeom prst="rect">
            <a:avLst/>
          </a:prstGeom>
          <a:noFill/>
          <a:ln w="635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 with scale</a:t>
            </a:r>
            <a:endParaRPr lang="en-US" sz="700" dirty="0"/>
          </a:p>
        </p:txBody>
      </p:sp>
      <p:sp>
        <p:nvSpPr>
          <p:cNvPr id="25" name="Shape 20"/>
          <p:cNvSpPr/>
          <p:nvPr/>
        </p:nvSpPr>
        <p:spPr>
          <a:xfrm>
            <a:off x="6903720" y="1554480"/>
            <a:ext cx="1828800" cy="237744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086600" y="1737360"/>
            <a:ext cx="411480" cy="411480"/>
          </a:xfrm>
          <a:prstGeom prst="rect">
            <a:avLst>
              <a:gd name="adj" fmla="val 11111"/>
            </a:avLst>
          </a:prstGeom>
          <a:solidFill>
            <a:srgbClr val="0D9488">
              <a:alpha val="20000"/>
            </a:srgbClr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08" y="1801368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4088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Moat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040880" y="25146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process payments, so MCA repayment is automatic — a % of daily sales. No bank can replicate without the same POS distribution.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7040880" y="3611880"/>
            <a:ext cx="1371600" cy="182880"/>
          </a:xfrm>
          <a:prstGeom prst="rect">
            <a:avLst/>
          </a:prstGeom>
          <a:noFill/>
          <a:ln w="635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 with scale</a:t>
            </a:r>
            <a:endParaRPr lang="en-US" sz="700" dirty="0"/>
          </a:p>
        </p:txBody>
      </p:sp>
      <p:sp>
        <p:nvSpPr>
          <p:cNvPr id="31" name="Shape 25"/>
          <p:cNvSpPr/>
          <p:nvPr/>
        </p:nvSpPr>
        <p:spPr>
          <a:xfrm>
            <a:off x="731520" y="4160520"/>
            <a:ext cx="7680960" cy="50292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914400" y="41879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POS is easy to copy. </a:t>
            </a:r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flywheel — free POS → adoption → data → smarter underwriting → MCA revenue → better POS → more adoption — </a:t>
            </a:r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years and thousands of restaurants to replicate.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Kitchen  ·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USE OF FUNDS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5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$5–8M to </a:t>
            </a:r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own the category.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2468880" cy="201168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Distribution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Commission-based street teams in CDMX, then GDL and MTY. Door-to-door with $65 tablets. Every signup is a future financing customer.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0" y="1554480"/>
            <a:ext cx="2468880" cy="201168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0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5760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&amp; Fintech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2468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MCA underwriting engine, credit scoring, auto-deduction infrastructure, regulatory compliance, continued POS development.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468880" cy="201168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&amp; Capital Reserve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2468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MCA lending capital, onboarding infrastructure, customer success, operational backbone for rapid acquisition.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794760"/>
            <a:ext cx="2468880" cy="82296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8404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43000" y="3840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CDMX Dense Penetration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6868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Roma, Condesa, Polanco, Santa Fe. Target: 500 restaurants in 6 months.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474720" y="3794760"/>
            <a:ext cx="2468880" cy="82296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38404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86200" y="3840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MCAs Deployed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1188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5–6: first cohort hits data threshold. Prove the model. Validate default rates.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17920" y="3794760"/>
            <a:ext cx="2468880" cy="82296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8404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629400" y="3840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GDL, MTY &amp; Scale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508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Tier-2 cities. WhatsApp referrals. Institutional capital partners for lending facility.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Kitchen  ·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WHY a16z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5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backed this playbook </a:t>
            </a:r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3749040" cy="146304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737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backed Rappi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2148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saw LATAM delivery as a generational opportunity. We're the infrastructure that helps 180K+ restaurants survive the commissions.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554480"/>
            <a:ext cx="3749040" cy="146304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373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737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backed Toast &amp; Square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37760" y="2148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know POS is a trojan horse for financial services. Same playbook, 10× more underserved market, founder from finance.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31520" y="3246120"/>
            <a:ext cx="3749040" cy="146304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290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429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a fintech thesis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1440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dollar of lending moving from banks to embedded platforms accrues to software companies with distribution. We have it.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54880" y="3246120"/>
            <a:ext cx="3749040" cy="146304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42900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94960" y="3429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LATAM is your frontier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9377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is the entry to a $650B+ LATAM restaurant market. Colombia, Argentina, Chile — identical dynamics, same playbook.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$5–8M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NOW — OPEN 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71600" y="21945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5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Square of Latin America </a:t>
            </a:r>
            <a:pPr algn="ctr" indent="0" marL="0">
              <a:buNone/>
            </a:pPr>
            <a:r>
              <a:rPr lang="en-US" sz="28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starts here.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2834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fintech company disguised as restaurant software. A free POS that's really a data pipeline. A lending business with built-in distribution and automatic repayment. Led by a finance professional who built the whole thing from inside his own restaurant.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3520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is live. The app stores are in review.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sales team is assembling. 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thing missing is the fuel.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4206240"/>
            <a:ext cx="4572000" cy="502920"/>
          </a:xfrm>
          <a:prstGeom prst="rect">
            <a:avLst/>
          </a:prstGeom>
          <a:solidFill>
            <a:srgbClr val="1C1C1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4206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juan@injupe.com   ·   www.desktop.kitchen   ·   LinkedIn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Kitchen  ·  Confidential  · 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Desktop Kitchen — Investor Deck 2026</dc:title>
  <dc:subject>PptxGenJS Presentation</dc:subject>
  <dc:creator>Juan — Desktop Kitchen</dc:creator>
  <cp:lastModifiedBy>Juan — Desktop Kitchen</cp:lastModifiedBy>
  <cp:revision>1</cp:revision>
  <dcterms:created xsi:type="dcterms:W3CDTF">2026-03-15T04:37:24Z</dcterms:created>
  <dcterms:modified xsi:type="dcterms:W3CDTF">2026-03-15T04:37:24Z</dcterms:modified>
</cp:coreProperties>
</file>